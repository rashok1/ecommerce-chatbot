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70" r:id="rId9"/>
    <p:sldId id="261" r:id="rId10"/>
    <p:sldId id="267" r:id="rId11"/>
    <p:sldId id="262" r:id="rId12"/>
    <p:sldId id="269" r:id="rId13"/>
    <p:sldId id="268" r:id="rId14"/>
    <p:sldId id="263" r:id="rId15"/>
    <p:sldId id="266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82"/>
  </p:normalViewPr>
  <p:slideViewPr>
    <p:cSldViewPr snapToGrid="0">
      <p:cViewPr varScale="1">
        <p:scale>
          <a:sx n="116" d="100"/>
          <a:sy n="11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9/3/25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B57D-7940-C276-7FC7-91D876F4C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Chat Assistant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F46AD-8493-0303-41D8-CBA483945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RITHIKA ASHOK</a:t>
            </a:r>
          </a:p>
        </p:txBody>
      </p:sp>
    </p:spTree>
    <p:extLst>
      <p:ext uri="{BB962C8B-B14F-4D97-AF65-F5344CB8AC3E}">
        <p14:creationId xmlns:p14="http://schemas.microsoft.com/office/powerpoint/2010/main" val="188243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4695-AD64-2FBE-2871-D2C89246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6190F-A6DA-B53F-EB6F-6DD0976EB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and implement a cost-efficient, retrieval-augmented AI chatbot that can accurately answer customer FAQs and contextually promote the company’s digital products during conversations, that is to be hosted on a web or phone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5053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4A65-2A38-1F19-9A10-77A4FC51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0156F-21AF-BE3D-9707-77B0C5B86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FAQ Handling</a:t>
            </a:r>
            <a:r>
              <a:rPr lang="en-US" dirty="0"/>
              <a:t> → Retrieve and answer customer questions from a predefined product dataset.</a:t>
            </a:r>
          </a:p>
          <a:p>
            <a:r>
              <a:rPr lang="en-US" b="1" dirty="0"/>
              <a:t>Product Promotion</a:t>
            </a:r>
            <a:r>
              <a:rPr lang="en-US" dirty="0"/>
              <a:t> → Recommend relevant digital products naturally within the conversation.</a:t>
            </a:r>
          </a:p>
          <a:p>
            <a:r>
              <a:rPr lang="en-US" b="1" dirty="0"/>
              <a:t>Budget Constraint</a:t>
            </a:r>
            <a:r>
              <a:rPr lang="en-US" dirty="0"/>
              <a:t> → Avoid expensive LLM training; use </a:t>
            </a:r>
            <a:r>
              <a:rPr lang="en-US" b="1" dirty="0"/>
              <a:t>RAG</a:t>
            </a:r>
            <a:r>
              <a:rPr lang="en-US" dirty="0"/>
              <a:t> as the approach.</a:t>
            </a:r>
          </a:p>
          <a:p>
            <a:r>
              <a:rPr lang="en-US" b="1" dirty="0"/>
              <a:t>Integration</a:t>
            </a:r>
            <a:r>
              <a:rPr lang="en-US" dirty="0"/>
              <a:t> → Demonstrate in a working demo (website + chatbot).</a:t>
            </a:r>
          </a:p>
          <a:p>
            <a:r>
              <a:rPr lang="en-US" b="1" dirty="0"/>
              <a:t>Scalability</a:t>
            </a:r>
            <a:r>
              <a:rPr lang="en-US" dirty="0"/>
              <a:t> → Solution should be extendable to larger datasets and product catalogs.</a:t>
            </a:r>
          </a:p>
        </p:txBody>
      </p:sp>
    </p:spTree>
    <p:extLst>
      <p:ext uri="{BB962C8B-B14F-4D97-AF65-F5344CB8AC3E}">
        <p14:creationId xmlns:p14="http://schemas.microsoft.com/office/powerpoint/2010/main" val="3212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7303-E1BD-DD5F-F67B-B83317B6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68E0F-A3C3-BF79-3215-9E74574DE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971684"/>
          </a:xfrm>
        </p:spPr>
        <p:txBody>
          <a:bodyPr/>
          <a:lstStyle/>
          <a:p>
            <a:r>
              <a:rPr lang="en-US" dirty="0"/>
              <a:t>DATABASE:  MongoDB (NOSQL)</a:t>
            </a:r>
          </a:p>
          <a:p>
            <a:r>
              <a:rPr lang="en-US" dirty="0"/>
              <a:t>FRONTEND: REACT.JS</a:t>
            </a:r>
          </a:p>
          <a:p>
            <a:r>
              <a:rPr lang="en-US" dirty="0"/>
              <a:t>BACKEND: JavaScript, </a:t>
            </a:r>
            <a:r>
              <a:rPr lang="en-US" dirty="0" err="1"/>
              <a:t>Langchain</a:t>
            </a:r>
            <a:r>
              <a:rPr lang="en-US" dirty="0"/>
              <a:t> (LANGGraph)</a:t>
            </a:r>
          </a:p>
          <a:p>
            <a:pPr lvl="1"/>
            <a:r>
              <a:rPr lang="en-US" dirty="0"/>
              <a:t>Integration: Node.js, TypeScript</a:t>
            </a:r>
          </a:p>
          <a:p>
            <a:r>
              <a:rPr lang="en-US" dirty="0"/>
              <a:t>LLM: </a:t>
            </a:r>
            <a:r>
              <a:rPr lang="en-US"/>
              <a:t>Google Gemini API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tools and architecture</a:t>
            </a:r>
            <a:r>
              <a:rPr lang="en-US" dirty="0"/>
              <a:t> I’ve used so far (React, </a:t>
            </a:r>
            <a:r>
              <a:rPr lang="en-US" dirty="0" err="1"/>
              <a:t>LangChain</a:t>
            </a:r>
            <a:r>
              <a:rPr lang="en-US" dirty="0"/>
              <a:t>, MongoDB, Gemini API) can be </a:t>
            </a:r>
            <a:r>
              <a:rPr lang="en-US" b="1" dirty="0"/>
              <a:t>adapted based on your preferences*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43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6109-FFA7-867A-848E-919C0BA7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84FB4-91FA-2455-EC97-59B6DA30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17" y="2104222"/>
            <a:ext cx="11046454" cy="489699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Built a mockup ecommerce website, to showcase the AI chatbot.</a:t>
            </a:r>
          </a:p>
          <a:p>
            <a:r>
              <a:rPr lang="en-US" b="1" dirty="0"/>
              <a:t>Mock Data Generation</a:t>
            </a:r>
            <a:endParaRPr lang="en-US" dirty="0"/>
          </a:p>
          <a:p>
            <a:pPr lvl="1"/>
            <a:r>
              <a:rPr lang="en-US" dirty="0"/>
              <a:t>Use Gemini LLM to generate fake furniture dataset.</a:t>
            </a:r>
          </a:p>
          <a:p>
            <a:pPr lvl="1"/>
            <a:r>
              <a:rPr lang="en-US" dirty="0"/>
              <a:t>Validate with Zod before seeding into MongoDB.</a:t>
            </a:r>
          </a:p>
          <a:p>
            <a:r>
              <a:rPr lang="en-US" b="1" dirty="0"/>
              <a:t>Database Setup</a:t>
            </a:r>
            <a:endParaRPr lang="en-US" dirty="0"/>
          </a:p>
          <a:p>
            <a:pPr lvl="1"/>
            <a:r>
              <a:rPr lang="en-US" dirty="0"/>
              <a:t>Store product docs + embeddings.</a:t>
            </a:r>
          </a:p>
          <a:p>
            <a:pPr lvl="1"/>
            <a:r>
              <a:rPr lang="en-US" dirty="0"/>
              <a:t>Create vector index with cosine similarity.</a:t>
            </a:r>
          </a:p>
          <a:p>
            <a:r>
              <a:rPr lang="en-US" b="1" dirty="0"/>
              <a:t>Hybrid Search Agent</a:t>
            </a:r>
            <a:endParaRPr lang="en-US" dirty="0"/>
          </a:p>
          <a:p>
            <a:pPr lvl="1"/>
            <a:r>
              <a:rPr lang="en-US" dirty="0"/>
              <a:t>Vector Search (semantic match for "modern wooden chair")</a:t>
            </a:r>
          </a:p>
          <a:p>
            <a:pPr lvl="1"/>
            <a:r>
              <a:rPr lang="en-US" dirty="0"/>
              <a:t>Keyword Search (exact text match for “chair”)</a:t>
            </a:r>
          </a:p>
          <a:p>
            <a:pPr lvl="1"/>
            <a:r>
              <a:rPr lang="en-US" dirty="0"/>
              <a:t>Combine results for higher relevance.</a:t>
            </a:r>
          </a:p>
          <a:p>
            <a:r>
              <a:rPr lang="en-US" b="1" dirty="0"/>
              <a:t>Frontend Mockup</a:t>
            </a:r>
            <a:endParaRPr lang="en-US" dirty="0"/>
          </a:p>
          <a:p>
            <a:pPr lvl="1"/>
            <a:r>
              <a:rPr lang="en-US" dirty="0"/>
              <a:t>Simple React site showing chatbot interface.</a:t>
            </a:r>
          </a:p>
          <a:p>
            <a:pPr lvl="1"/>
            <a:r>
              <a:rPr lang="en-US" dirty="0"/>
              <a:t>Users can query and get responses back.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37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DC0B-7BD8-59C1-44D0-82D18100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5563-F0CE-BD0B-657D-A3CCE5873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Architecture Flow:</a:t>
            </a:r>
            <a:br>
              <a:rPr lang="en-US" dirty="0"/>
            </a:br>
            <a:r>
              <a:rPr lang="en-US" dirty="0"/>
              <a:t>User → React Mockup UI → </a:t>
            </a:r>
            <a:r>
              <a:rPr lang="en-US" dirty="0" err="1"/>
              <a:t>LangChain</a:t>
            </a:r>
            <a:r>
              <a:rPr lang="en-US" dirty="0"/>
              <a:t> Agent (Gemini) → MongoDB (vector + keyword) → Agent Response → UI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project follows a </a:t>
            </a:r>
            <a:r>
              <a:rPr lang="en-US" b="1" dirty="0"/>
              <a:t>modular </a:t>
            </a:r>
            <a:r>
              <a:rPr lang="en-US" b="1" dirty="0" err="1"/>
              <a:t>LangChain</a:t>
            </a:r>
            <a:r>
              <a:rPr lang="en-US" b="1" dirty="0"/>
              <a:t>-based pipeline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Data Layer:</a:t>
            </a:r>
            <a:r>
              <a:rPr lang="en-US" dirty="0"/>
              <a:t> MongoDB Atlas (items + vector index).</a:t>
            </a:r>
          </a:p>
          <a:p>
            <a:pPr lvl="1"/>
            <a:r>
              <a:rPr lang="en-US" b="1" dirty="0"/>
              <a:t>Processing Layer:</a:t>
            </a:r>
            <a:r>
              <a:rPr lang="en-US" dirty="0"/>
              <a:t> </a:t>
            </a:r>
            <a:r>
              <a:rPr lang="en-US" dirty="0" err="1"/>
              <a:t>LangChain</a:t>
            </a:r>
            <a:r>
              <a:rPr lang="en-US" dirty="0"/>
              <a:t> tools for hybrid retrieval.</a:t>
            </a:r>
          </a:p>
          <a:p>
            <a:pPr lvl="1"/>
            <a:r>
              <a:rPr lang="en-US" b="1" dirty="0"/>
              <a:t>Reasoning Layer:</a:t>
            </a:r>
            <a:r>
              <a:rPr lang="en-US" dirty="0"/>
              <a:t> Gemini LLM as the core agent.</a:t>
            </a:r>
          </a:p>
          <a:p>
            <a:pPr lvl="1"/>
            <a:r>
              <a:rPr lang="en-US" b="1" dirty="0"/>
              <a:t>UI Layer:</a:t>
            </a:r>
            <a:r>
              <a:rPr lang="en-US" dirty="0"/>
              <a:t> React mockup site to demonstrate chatbot interaction</a:t>
            </a:r>
          </a:p>
        </p:txBody>
      </p:sp>
    </p:spTree>
    <p:extLst>
      <p:ext uri="{BB962C8B-B14F-4D97-AF65-F5344CB8AC3E}">
        <p14:creationId xmlns:p14="http://schemas.microsoft.com/office/powerpoint/2010/main" val="178270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D5FC-CC8F-F7F7-DB5B-CC3EE3F4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Chat Assistant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FC231-1D93-D18D-3428-4628F0F6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Autonomously decides when to search the database vs. when to respond directly.</a:t>
            </a:r>
          </a:p>
          <a:p>
            <a:r>
              <a:rPr lang="en-US" dirty="0"/>
              <a:t>Uses custom tools to actively search through real product data.</a:t>
            </a:r>
          </a:p>
          <a:p>
            <a:r>
              <a:rPr lang="en-US" dirty="0"/>
              <a:t>Maintains conversation memory and adapts to failures.</a:t>
            </a:r>
          </a:p>
          <a:p>
            <a:r>
              <a:rPr lang="en-US" dirty="0"/>
              <a:t>Takes multi step actions: perceive, plan , act and respond.</a:t>
            </a:r>
          </a:p>
          <a:p>
            <a:r>
              <a:rPr lang="en-US" dirty="0"/>
              <a:t>Uses a Hybrid Search method: both keyword search and vector based search.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66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2F7A-8316-365C-2907-A1803B33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F3CA2-F698-061D-0A09-EE772A4B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003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9D3E6-DB45-A9F4-4B38-EFA8C7C3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59" y="1286935"/>
            <a:ext cx="9638153" cy="266837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Code Snippets</a:t>
            </a:r>
          </a:p>
        </p:txBody>
      </p:sp>
    </p:spTree>
    <p:extLst>
      <p:ext uri="{BB962C8B-B14F-4D97-AF65-F5344CB8AC3E}">
        <p14:creationId xmlns:p14="http://schemas.microsoft.com/office/powerpoint/2010/main" val="18622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205B-2DE3-7167-A6D2-8422CABE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 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9E05EE7-02E8-6118-A268-320FE876D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3000" y="202425"/>
            <a:ext cx="6678993" cy="620838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45379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16F6-1B47-E3A7-94C9-1F1D8D1F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Search</a:t>
            </a:r>
          </a:p>
        </p:txBody>
      </p:sp>
      <p:pic>
        <p:nvPicPr>
          <p:cNvPr id="4" name="Picture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E58C29E7-B12A-DAD3-FD37-AF0745C0B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739" y="484804"/>
            <a:ext cx="6133745" cy="588839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31848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6E46-1354-16CA-C50F-B3C8CFEC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Prompt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709A39-BA9B-DE66-9D3E-6539BE396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823" y="2200728"/>
            <a:ext cx="9737741" cy="3971471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60242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E39E-3C46-4241-BDB4-13B71B61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function</a:t>
            </a:r>
          </a:p>
        </p:txBody>
      </p:sp>
      <p:pic>
        <p:nvPicPr>
          <p:cNvPr id="4" name="Content Placeholder 3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18D1FBFC-9415-7D39-74C9-8542B3A54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5630" y="578757"/>
            <a:ext cx="6275113" cy="5390845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36759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D71D-8718-F5EE-6E51-CF6A142E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Changes &amp; Additions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FFE3-B9B7-A13B-9E4B-98286D6A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synthetic data with </a:t>
            </a:r>
            <a:r>
              <a:rPr lang="en-US" b="1" dirty="0"/>
              <a:t>real product catalog</a:t>
            </a:r>
            <a:r>
              <a:rPr lang="en-US" dirty="0"/>
              <a:t>.</a:t>
            </a:r>
          </a:p>
          <a:p>
            <a:r>
              <a:rPr lang="en-US" dirty="0"/>
              <a:t>Improve </a:t>
            </a:r>
            <a:r>
              <a:rPr lang="en-US" b="1" dirty="0"/>
              <a:t>ranking logic</a:t>
            </a:r>
            <a:r>
              <a:rPr lang="en-US" dirty="0"/>
              <a:t> between keyword and semantic results.</a:t>
            </a:r>
          </a:p>
          <a:p>
            <a:r>
              <a:rPr lang="en-US" dirty="0"/>
              <a:t>Expand chatbot to support </a:t>
            </a:r>
            <a:r>
              <a:rPr lang="en-US" b="1" dirty="0"/>
              <a:t>recommendations &amp; personalization, </a:t>
            </a:r>
            <a:r>
              <a:rPr lang="en-US" dirty="0"/>
              <a:t>maybe assigned to each user based on user history. </a:t>
            </a:r>
          </a:p>
          <a:p>
            <a:r>
              <a:rPr lang="en-US" dirty="0"/>
              <a:t>Deploy on </a:t>
            </a:r>
            <a:r>
              <a:rPr lang="en-US" b="1" dirty="0"/>
              <a:t>cloud platform (</a:t>
            </a:r>
            <a:r>
              <a:rPr lang="en-US" b="1" dirty="0" err="1"/>
              <a:t>Eg:AWS</a:t>
            </a:r>
            <a:r>
              <a:rPr lang="en-US" b="1" dirty="0"/>
              <a:t>)</a:t>
            </a:r>
            <a:r>
              <a:rPr lang="en-US" dirty="0"/>
              <a:t> for scaling.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27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536B-0083-D46F-5AE1-2C48338F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CA605-52E5-A002-A9CE-995520F64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01" y="2343472"/>
            <a:ext cx="11622795" cy="43878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Should the chatbot </a:t>
            </a:r>
            <a:r>
              <a:rPr lang="en-US" b="1" dirty="0"/>
              <a:t>connect to your entire website</a:t>
            </a:r>
            <a:r>
              <a:rPr lang="en-US" dirty="0"/>
              <a:t>, or only specific product/documentation sections?,  conversational commerce, </a:t>
            </a:r>
          </a:p>
          <a:p>
            <a:r>
              <a:rPr lang="en-US" dirty="0"/>
              <a:t>Do you want it to also pull from </a:t>
            </a:r>
            <a:r>
              <a:rPr lang="en-US" b="1" dirty="0"/>
              <a:t>external sources</a:t>
            </a:r>
            <a:r>
              <a:rPr lang="en-US" dirty="0"/>
              <a:t> (e.g., reviews, websites, etc.)?</a:t>
            </a:r>
          </a:p>
          <a:p>
            <a:r>
              <a:rPr lang="en-US" dirty="0"/>
              <a:t>Do you want it to collect data too?</a:t>
            </a:r>
          </a:p>
          <a:p>
            <a:r>
              <a:rPr lang="en-US" dirty="0"/>
              <a:t>Will there be a set of </a:t>
            </a:r>
            <a:r>
              <a:rPr lang="en-US" b="1" dirty="0"/>
              <a:t>predefined Q&amp;A pairs / FAQs</a:t>
            </a:r>
            <a:r>
              <a:rPr lang="en-US" dirty="0"/>
              <a:t> that should be included in the knowledge base along with the RAG model? Observability</a:t>
            </a:r>
            <a:r>
              <a:rPr lang="en-US"/>
              <a:t>, hallucinations, </a:t>
            </a:r>
            <a:endParaRPr lang="en-US" dirty="0"/>
          </a:p>
          <a:p>
            <a:r>
              <a:rPr lang="en-US" dirty="0"/>
              <a:t>What </a:t>
            </a:r>
            <a:r>
              <a:rPr lang="en-US" b="1" dirty="0"/>
              <a:t>data sources</a:t>
            </a:r>
            <a:r>
              <a:rPr lang="en-US" dirty="0"/>
              <a:t> should form the core of the RAG pipeline?</a:t>
            </a:r>
          </a:p>
          <a:p>
            <a:pPr lvl="1"/>
            <a:r>
              <a:rPr lang="en-US" b="1" dirty="0"/>
              <a:t>Private database</a:t>
            </a:r>
            <a:r>
              <a:rPr lang="en-US" dirty="0"/>
              <a:t> (e.g., inventory, internal docs)</a:t>
            </a:r>
          </a:p>
          <a:p>
            <a:pPr lvl="1"/>
            <a:r>
              <a:rPr lang="en-US" b="1" dirty="0"/>
              <a:t>Website content, anything </a:t>
            </a:r>
            <a:endParaRPr lang="en-US" dirty="0"/>
          </a:p>
          <a:p>
            <a:r>
              <a:rPr lang="en-US" dirty="0"/>
              <a:t>Should the chatbot be primarily </a:t>
            </a:r>
            <a:r>
              <a:rPr lang="en-US" b="1" dirty="0"/>
              <a:t>customer-facing</a:t>
            </a:r>
            <a:r>
              <a:rPr lang="en-US" dirty="0"/>
              <a:t> (marketing, product discovery) or </a:t>
            </a:r>
            <a:r>
              <a:rPr lang="en-US" b="1" dirty="0"/>
              <a:t>internal-facing</a:t>
            </a:r>
            <a:r>
              <a:rPr lang="en-US" dirty="0"/>
              <a:t> (support, inventory management)?</a:t>
            </a:r>
          </a:p>
          <a:p>
            <a:r>
              <a:rPr lang="en-US" dirty="0"/>
              <a:t>Since the company doesn’t have resources to </a:t>
            </a:r>
            <a:r>
              <a:rPr lang="en-US" b="1" dirty="0"/>
              <a:t>train a custom LLM</a:t>
            </a:r>
            <a:r>
              <a:rPr lang="en-US" dirty="0"/>
              <a:t>, should I: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pre-trained LLM API</a:t>
            </a:r>
            <a:r>
              <a:rPr lang="en-US" dirty="0"/>
              <a:t> (Gemini, OpenAI, Anthropic), or</a:t>
            </a:r>
          </a:p>
          <a:p>
            <a:pPr lvl="1"/>
            <a:r>
              <a:rPr lang="en-US" dirty="0"/>
              <a:t>Explore </a:t>
            </a:r>
            <a:r>
              <a:rPr lang="en-US" b="1" dirty="0"/>
              <a:t>open-source LLMs</a:t>
            </a:r>
            <a:r>
              <a:rPr lang="en-US" dirty="0"/>
              <a:t> that can be hosted privately?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35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5FC0-1B1A-BFE0-1EF1-91E5C8F7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C6A2-124D-DDCF-E8D1-112C12853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87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920</TotalTime>
  <Words>638</Words>
  <Application>Microsoft Macintosh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2</vt:lpstr>
      <vt:lpstr>Quotable</vt:lpstr>
      <vt:lpstr>AI Chat Assistant Demo</vt:lpstr>
      <vt:lpstr>Task: </vt:lpstr>
      <vt:lpstr>Requirements</vt:lpstr>
      <vt:lpstr>TOOLS</vt:lpstr>
      <vt:lpstr>Approach</vt:lpstr>
      <vt:lpstr>Architecture</vt:lpstr>
      <vt:lpstr>AI Chat Assistant Features</vt:lpstr>
      <vt:lpstr>DEMO</vt:lpstr>
      <vt:lpstr>Code Snippets</vt:lpstr>
      <vt:lpstr>Main Function </vt:lpstr>
      <vt:lpstr>Hybrid Search</vt:lpstr>
      <vt:lpstr>Ai Prompt</vt:lpstr>
      <vt:lpstr>Workflow function</vt:lpstr>
      <vt:lpstr>Potential Changes &amp; Additions</vt:lpstr>
      <vt:lpstr>Questions: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Rithika Ashok</dc:creator>
  <cp:lastModifiedBy>Rithika Ashok</cp:lastModifiedBy>
  <cp:revision>7</cp:revision>
  <dcterms:created xsi:type="dcterms:W3CDTF">2025-09-03T05:50:08Z</dcterms:created>
  <dcterms:modified xsi:type="dcterms:W3CDTF">2025-09-04T04:41:03Z</dcterms:modified>
</cp:coreProperties>
</file>